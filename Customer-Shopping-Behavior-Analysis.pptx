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oppins Light"/>
      <p:regular r:id="rId201314"/>
    </p:embeddedFont>
    <p:embeddedFont>
      <p:font typeface="Poppins"/>
      <p:regular r:id="rId201315"/>
    </p:embeddedFont>
    <p:embeddedFont>
      <p:font typeface="Roboto Light"/>
      <p:regular r:id="rId201316"/>
    </p:embeddedFont>
    <p:embeddedFont>
      <p:font typeface="Roboto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191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505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image" Target="../media/image-10-6.png"/><Relationship Id="rId7" Type="http://schemas.openxmlformats.org/officeDocument/2006/relationships/image" Target="../media/image-10-7.svg"/><Relationship Id="rId8" Type="http://schemas.openxmlformats.org/officeDocument/2006/relationships/image" Target="../media/image-10-8.png"/><Relationship Id="rId9" Type="http://schemas.openxmlformats.org/officeDocument/2006/relationships/image" Target="../media/image-10-9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239414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5233360" y="3858915"/>
            <a:ext cx="629686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Analyzing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3,900 transactions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across product categories to uncover spending patterns, customer segments, and strategic growth opportunities.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149251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Dataset at a Glance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221238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3,900</a:t>
            </a:r>
            <a:endParaRPr lang="en-US" sz="4900" dirty="0"/>
          </a:p>
        </p:txBody>
      </p:sp>
      <p:sp>
        <p:nvSpPr>
          <p:cNvPr id="4" name="Text 2"/>
          <p:cNvSpPr/>
          <p:nvPr/>
        </p:nvSpPr>
        <p:spPr>
          <a:xfrm>
            <a:off x="661475" y="30723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Transactions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348099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Rows in the dataset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4363135" y="221238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18</a:t>
            </a:r>
            <a:endParaRPr lang="en-US" sz="4900" dirty="0"/>
          </a:p>
        </p:txBody>
      </p:sp>
      <p:sp>
        <p:nvSpPr>
          <p:cNvPr id="7" name="Text 5"/>
          <p:cNvSpPr/>
          <p:nvPr/>
        </p:nvSpPr>
        <p:spPr>
          <a:xfrm>
            <a:off x="4363135" y="30723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Features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63135" y="348099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Columns tracked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064794" y="2212380"/>
            <a:ext cx="3465426" cy="6237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37</a:t>
            </a:r>
            <a:endParaRPr lang="en-US" sz="4900" dirty="0"/>
          </a:p>
        </p:txBody>
      </p:sp>
      <p:sp>
        <p:nvSpPr>
          <p:cNvPr id="10" name="Text 8"/>
          <p:cNvSpPr/>
          <p:nvPr/>
        </p:nvSpPr>
        <p:spPr>
          <a:xfrm>
            <a:off x="8064794" y="3072309"/>
            <a:ext cx="346542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Missing Values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4794" y="3480991"/>
            <a:ext cx="3465426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In Review Rating only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61475" y="418504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Data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61475" y="4669334"/>
            <a:ext cx="5203794" cy="670917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Age, Gender, Location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Subscription Status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6332776" y="4185047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Purchase Behavior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6332776" y="4669334"/>
            <a:ext cx="5203794" cy="973336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Item, Category, Amount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Discount, Promo Code, Frequency, Review Rating, Shipping Type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76659"/>
            <a:ext cx="6296860" cy="5076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 Preparation in Python</a:t>
            </a:r>
            <a:endParaRPr lang="en-US" sz="3150" dirty="0"/>
          </a:p>
        </p:txBody>
      </p:sp>
      <p:sp>
        <p:nvSpPr>
          <p:cNvPr id="4" name="Text 1"/>
          <p:cNvSpPr/>
          <p:nvPr/>
        </p:nvSpPr>
        <p:spPr>
          <a:xfrm>
            <a:off x="661475" y="1293614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661475" y="1550591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6" name="Text 3"/>
          <p:cNvSpPr/>
          <p:nvPr/>
        </p:nvSpPr>
        <p:spPr>
          <a:xfrm>
            <a:off x="661475" y="1669852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Load &amp; Explore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61475" y="2007394"/>
            <a:ext cx="6296860" cy="2479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Imported via pandas; used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df.info()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.describe()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for structure and summary stats.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61475" y="2516584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61475" y="2773561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0" name="Text 7"/>
          <p:cNvSpPr/>
          <p:nvPr/>
        </p:nvSpPr>
        <p:spPr>
          <a:xfrm>
            <a:off x="661475" y="2892822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Clean Missing Data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661475" y="3230364"/>
            <a:ext cx="62968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Imputed 37 missing Review Rating values using median rating per product category.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61475" y="3733205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661475" y="3990181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4" name="Text 11"/>
          <p:cNvSpPr/>
          <p:nvPr/>
        </p:nvSpPr>
        <p:spPr>
          <a:xfrm>
            <a:off x="661475" y="4109442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Standardize &amp; Engineer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661475" y="4446984"/>
            <a:ext cx="6296860" cy="4958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Renamed columns to snake_case; created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age_group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and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purchase_frequency_days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; dropped redundant 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highlight>
                  <a:srgbClr val="12121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promo_code_used</a:t>
            </a:r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61475" y="5204123"/>
            <a:ext cx="324834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61475" y="5461099"/>
            <a:ext cx="6296860" cy="19050"/>
          </a:xfrm>
          <a:prstGeom prst="rect">
            <a:avLst/>
          </a:prstGeom>
          <a:solidFill>
            <a:srgbClr val="F2F2F3"/>
          </a:solidFill>
          <a:ln/>
        </p:spPr>
      </p:sp>
      <p:sp>
        <p:nvSpPr>
          <p:cNvPr id="18" name="Text 15"/>
          <p:cNvSpPr/>
          <p:nvPr/>
        </p:nvSpPr>
        <p:spPr>
          <a:xfrm>
            <a:off x="661475" y="5580360"/>
            <a:ext cx="6296860" cy="2538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Database Integration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61475" y="5917902"/>
            <a:ext cx="6296860" cy="2415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Loaded cleaned DataFrame into PostgreSQL for SQL analysis.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&amp; Spending Insights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Gender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Male customers generated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$157,890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over twice the revenue of female customers (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$75,191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).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6332776" y="324762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Shipping Comparison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332776" y="3731915"/>
            <a:ext cx="5203794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Express shipping averaged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$60.48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vs. Standard at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$58.46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a modest but consistent premium.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9841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Subscribers vs. Non-Subscribers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88515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86154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Findings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345829"/>
            <a:ext cx="5203794" cy="1946672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Non-subscribers: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2,847 customers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avg spend $59.87, total revenue $170,436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Subscribers: 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1,053 customers</a:t>
            </a:r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avg spend $59.49, total revenue $62,645</a:t>
            </a:r>
            <a:endParaRPr lang="en-US" sz="1450" dirty="0"/>
          </a:p>
          <a:p>
            <a:pPr algn="l" marL="294640" indent="-294640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Repeat buyers (&gt;5 purchases): 2,518 non-subscribers vs. 958 subscribers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505127"/>
            <a:ext cx="5203794" cy="1341834"/>
          </a:xfrm>
          <a:prstGeom prst="roundRect">
            <a:avLst>
              <a:gd name="adj" fmla="val 5916"/>
            </a:avLst>
          </a:prstGeom>
          <a:solidFill>
            <a:srgbClr val="3D3D4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79186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722416"/>
            <a:ext cx="440053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Despite similar average spend, subscribers represent only 27% of customers but show strong repeat-buyer potential.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4270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Products by Category &amp; Rating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3 Products per Category</a:t>
            </a:r>
            <a:endParaRPr lang="en-US" sz="18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235299"/>
          <a:ext cx="9143771" cy="914400"/>
        </p:xfrm>
        <a:graphic>
          <a:graphicData uri="http://schemas.openxmlformats.org/drawingml/2006/table">
            <a:tbl>
              <a:tblPr/>
              <a:tblGrid>
                <a:gridCol w="1734598"/>
                <a:gridCol w="1734598"/>
                <a:gridCol w="1734598"/>
              </a:tblGrid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Category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Product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Orders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Accessories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Jewelry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171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Clothing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Blouse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171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4826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Footwear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Sandals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160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  <a:tr h="5450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Outerwear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Jacket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5E0DF"/>
                          </a:solidFill>
                          <a:latin typeface="Roboto" pitchFamily="34" charset="0"/>
                          <a:ea typeface="Roboto" pitchFamily="34" charset="-122"/>
                          <a:cs typeface="Roboto" pitchFamily="34" charset="-120"/>
                        </a:rPr>
                        <a:t>163</a:t>
                      </a:r>
                      <a:endParaRPr lang="en-US" sz="1450" dirty="0">
                        <a:latin typeface="Roboto" charset="0"/>
                        <a:ea typeface="Roboto" charset="0"/>
                        <a:cs typeface="Roboto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5050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141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0505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332776" y="1727398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Top 5 Products by Rating</a:t>
            </a:r>
            <a:endParaRPr lang="en-US" sz="18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2776" y="2235299"/>
            <a:ext cx="5203794" cy="374580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Discount-Dependent Products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What the Data Shows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3797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These five products have the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highest percentage of discounted purchases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ranging from 47% to 50%.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Hats lead at exactly </a:t>
            </a:r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50%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discount rate, suggesting strong price sensitivity in outerwear and footwear categories.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6332776" y="4046141"/>
            <a:ext cx="5203794" cy="1039416"/>
          </a:xfrm>
          <a:prstGeom prst="roundRect">
            <a:avLst>
              <a:gd name="adj" fmla="val 7638"/>
            </a:avLst>
          </a:prstGeom>
          <a:solidFill>
            <a:srgbClr val="4B3F0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1783" y="4332883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947024" y="4263430"/>
            <a:ext cx="4400539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Review discount policy to balance sales volume with margin control on these items.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190724"/>
            <a:ext cx="6296860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Customer Segmentation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5233360" y="2064841"/>
            <a:ext cx="3053877" cy="2009080"/>
          </a:xfrm>
          <a:prstGeom prst="roundRect">
            <a:avLst>
              <a:gd name="adj" fmla="val 395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428717" y="2260203"/>
            <a:ext cx="2663163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🏆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Loyal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5428717" y="2668885"/>
            <a:ext cx="2663163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3,116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the dominant segment, representing the core repeat buyer base.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8476244" y="2064841"/>
            <a:ext cx="3053976" cy="2009080"/>
          </a:xfrm>
          <a:prstGeom prst="roundRect">
            <a:avLst>
              <a:gd name="adj" fmla="val 3951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71601" y="2260203"/>
            <a:ext cx="2663262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🔄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Returning</a:t>
            </a:r>
            <a:endParaRPr lang="en-US" sz="1850" dirty="0"/>
          </a:p>
        </p:txBody>
      </p:sp>
      <p:sp>
        <p:nvSpPr>
          <p:cNvPr id="9" name="Text 6"/>
          <p:cNvSpPr/>
          <p:nvPr/>
        </p:nvSpPr>
        <p:spPr>
          <a:xfrm>
            <a:off x="8671601" y="2668885"/>
            <a:ext cx="2663262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701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engaged but not yet fully loyal; prime candidates for retention programs.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5233360" y="4262934"/>
            <a:ext cx="6296860" cy="1404243"/>
          </a:xfrm>
          <a:prstGeom prst="roundRect">
            <a:avLst>
              <a:gd name="adj" fmla="val 5653"/>
            </a:avLst>
          </a:prstGeom>
          <a:solidFill>
            <a:srgbClr val="3D3D42"/>
          </a:solidFill>
          <a:ln w="6350">
            <a:solidFill>
              <a:srgbClr val="5656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28717" y="4458295"/>
            <a:ext cx="59061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🆕</a:t>
            </a:r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 New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5428717" y="4866977"/>
            <a:ext cx="5906146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83 customers</a:t>
            </a:r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— smallest segment; opportunity to convert through onboarding incentives.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06363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Revenue by Age Group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993106"/>
            <a:ext cx="5203794" cy="37458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32776" y="1969492"/>
            <a:ext cx="520379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Key Takeaway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32776" y="2453779"/>
            <a:ext cx="5203794" cy="16821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Young Adults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lead in revenue contribution at 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$62,143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, with a gradual decline across older groups.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Revenue distribution is relatively balanced — no single age group dominates, suggesting broad market appeal across demographics.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543818"/>
            <a:ext cx="6296860" cy="1052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2F2F3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Dashboard &amp; Business Recommendations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661475" y="1820763"/>
            <a:ext cx="6296860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An interactive </a:t>
            </a:r>
            <a:pPr algn="l" indent="0" marL="0">
              <a:lnSpc>
                <a:spcPct val="126000"/>
              </a:lnSpc>
              <a:buNone/>
            </a:pPr>
            <a:r>
              <a:rPr lang="en-US" sz="1300" b="1" dirty="0">
                <a:solidFill>
                  <a:srgbClr val="E5E0D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Power BI dashboard</a:t>
            </a:r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 presents key metrics: 3.9K customers, avg purchase $59.76, avg rating 3.75 — with filters for subscription, gender, category, and shipping.</a:t>
            </a:r>
            <a:endParaRPr lang="en-US" sz="13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2753221"/>
            <a:ext cx="336641" cy="33664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5436" y="2811066"/>
            <a:ext cx="5772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Boost Subscriptions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1185436" y="3163987"/>
            <a:ext cx="5772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Promote exclusive subscriber benefits to grow the 27% base.</a:t>
            </a:r>
            <a:endParaRPr lang="en-US" sz="13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1475" y="3718421"/>
            <a:ext cx="336641" cy="33664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85436" y="3776266"/>
            <a:ext cx="5772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Loyalty Programs</a:t>
            </a:r>
            <a:endParaRPr lang="en-US" sz="1650" dirty="0"/>
          </a:p>
        </p:txBody>
      </p:sp>
      <p:sp>
        <p:nvSpPr>
          <p:cNvPr id="10" name="Text 5"/>
          <p:cNvSpPr/>
          <p:nvPr/>
        </p:nvSpPr>
        <p:spPr>
          <a:xfrm>
            <a:off x="1185436" y="4129187"/>
            <a:ext cx="5772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Reward repeat buyers to move Returning customers into Loyal segment.</a:t>
            </a:r>
            <a:endParaRPr lang="en-US" sz="13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4683621"/>
            <a:ext cx="336641" cy="33664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185436" y="4741466"/>
            <a:ext cx="5772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Review Discount Policy</a:t>
            </a:r>
            <a:endParaRPr lang="en-US" sz="1650" dirty="0"/>
          </a:p>
        </p:txBody>
      </p:sp>
      <p:sp>
        <p:nvSpPr>
          <p:cNvPr id="13" name="Text 7"/>
          <p:cNvSpPr/>
          <p:nvPr/>
        </p:nvSpPr>
        <p:spPr>
          <a:xfrm>
            <a:off x="1185436" y="5094387"/>
            <a:ext cx="5772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Balance sales boosts with margin control on discount-heavy products.</a:t>
            </a:r>
            <a:endParaRPr lang="en-US" sz="130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475" y="5648821"/>
            <a:ext cx="336641" cy="33664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185436" y="5706666"/>
            <a:ext cx="5772899" cy="2630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E5E0DF"/>
                </a:solidFill>
                <a:latin typeface="Poppins Light" pitchFamily="34" charset="0"/>
                <a:ea typeface="Poppins Light" pitchFamily="34" charset="-122"/>
                <a:cs typeface="Poppins Light" pitchFamily="34" charset="-120"/>
              </a:rPr>
              <a:t>Targeted Marketing</a:t>
            </a:r>
            <a:endParaRPr lang="en-US" sz="1650" dirty="0"/>
          </a:p>
        </p:txBody>
      </p:sp>
      <p:sp>
        <p:nvSpPr>
          <p:cNvPr id="16" name="Text 9"/>
          <p:cNvSpPr/>
          <p:nvPr/>
        </p:nvSpPr>
        <p:spPr>
          <a:xfrm>
            <a:off x="1185436" y="6059587"/>
            <a:ext cx="5772899" cy="254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Roboto Light" pitchFamily="34" charset="0"/>
                <a:ea typeface="Roboto Light" pitchFamily="34" charset="-122"/>
                <a:cs typeface="Roboto Light" pitchFamily="34" charset="-120"/>
              </a:rPr>
              <a:t>Focus on high-revenue age groups and express-shipping users.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2026-08-29T18:45:56Z</dcterms:created>
  <dcterms:modified xsi:type="dcterms:W3CDTF">2026-08-29T18:45:56Z</dcterms:modified>
</cp:coreProperties>
</file>